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6" d="100"/>
          <a:sy n="136" d="100"/>
        </p:scale>
        <p:origin x="144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j-lt"/>
        </a:defRPr>
      </a:lvl1pPr>
    </p:titleStyle>
    <p:bodyStyle>
      <a:lvl1pPr>
        <a:defRPr sz="1200">
          <a:solidFill>
            <a:schemeClr val="tx1"/>
          </a:solidFill>
          <a:latin typeface="+mn-lt"/>
        </a:defRPr>
      </a:lvl1pPr>
    </p:bodyStyle>
    <p:otherStyle>
      <a:lvl1pPr>
        <a:defRPr sz="12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460000" y="360000"/>
            <a:ext cx="11272000" cy="960000"/>
          </a:xfrm>
          <a:prstGeom prst="roundRect">
            <a:avLst>
              <a:gd name="adj" fmla="val 4500"/>
            </a:avLst>
          </a:prstGeom>
          <a:noFill/>
          <a:ln>
            <a:noFill/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50" b="1" dirty="0">
                <a:solidFill>
                  <a:srgbClr val="8A95A2"/>
                </a:solidFill>
                <a:latin typeface="Microsoft YaHei"/>
                <a:ea typeface="Microsoft YaHei"/>
              </a:rPr>
              <a:t>运作方式  ·  一页概览</a:t>
            </a:r>
          </a:p>
          <a:p>
            <a:pPr algn="l">
              <a:spcBef>
                <a:spcPts val="150"/>
              </a:spcBef>
            </a:pPr>
            <a:r>
              <a:rPr lang="zh-CN" sz="2400" b="1" dirty="0">
                <a:solidFill>
                  <a:srgbClr val="17202B"/>
                </a:solidFill>
                <a:latin typeface="Microsoft YaHei"/>
                <a:ea typeface="Microsoft YaHei"/>
              </a:rPr>
              <a:t>REITs 发改委申报材料</a:t>
            </a:r>
            <a:r>
              <a:rPr lang="zh-CN" altLang="en-US" sz="2400" b="1" dirty="0">
                <a:solidFill>
                  <a:srgbClr val="17202B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2400" b="1" dirty="0">
                <a:solidFill>
                  <a:srgbClr val="17202B"/>
                </a:solidFill>
                <a:latin typeface="Microsoft YaHei"/>
                <a:ea typeface="Microsoft YaHei"/>
              </a:rPr>
              <a:t>Kimi</a:t>
            </a:r>
            <a:r>
              <a:rPr lang="zh-CN" altLang="en-US" sz="2400" b="1" dirty="0">
                <a:solidFill>
                  <a:srgbClr val="17202B"/>
                </a:solidFill>
                <a:latin typeface="Microsoft YaHei"/>
                <a:ea typeface="Microsoft YaHei"/>
              </a:rPr>
              <a:t>模型）</a:t>
            </a:r>
            <a:endParaRPr lang="zh-CN" sz="2400" b="1" dirty="0">
              <a:solidFill>
                <a:srgbClr val="17202B"/>
              </a:solidFill>
              <a:latin typeface="Microsoft YaHei"/>
              <a:ea typeface="Microsoft YaHei"/>
            </a:endParaRPr>
          </a:p>
        </p:txBody>
      </p:sp>
      <p:sp>
        <p:nvSpPr>
          <p:cNvPr id="3" name="node0"/>
          <p:cNvSpPr/>
          <p:nvPr/>
        </p:nvSpPr>
        <p:spPr>
          <a:xfrm>
            <a:off x="460000" y="1959050"/>
            <a:ext cx="2054400" cy="1600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0F766E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01 · 读料</a:t>
            </a:r>
          </a:p>
          <a:p>
            <a:pPr algn="l">
              <a:spcBef>
                <a:spcPts val="220"/>
              </a:spcBef>
            </a:pPr>
            <a:r>
              <a:rPr lang="en-US" altLang="zh-CN" sz="1400" b="1" dirty="0">
                <a:solidFill>
                  <a:srgbClr val="0F766E"/>
                </a:solidFill>
                <a:latin typeface="Microsoft YaHei"/>
                <a:ea typeface="Microsoft YaHei"/>
              </a:rPr>
              <a:t>Planning skill</a:t>
            </a:r>
            <a:r>
              <a:rPr lang="zh-CN" altLang="en-US" sz="1400" b="1" dirty="0">
                <a:solidFill>
                  <a:srgbClr val="0F766E"/>
                </a:solidFill>
                <a:latin typeface="Microsoft YaHei"/>
                <a:ea typeface="Microsoft YaHei"/>
              </a:rPr>
              <a:t>（总纲）</a:t>
            </a:r>
            <a:endParaRPr lang="zh-CN" sz="1400" b="1" dirty="0">
              <a:solidFill>
                <a:srgbClr val="0F766E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280"/>
              </a:spcBef>
            </a:pPr>
            <a:endParaRPr 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1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）</a:t>
            </a: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摘要表 / 释义 / 其他基本信息</a:t>
            </a:r>
            <a:endParaRPr lang="en-US" alt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2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）通用要求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(e.g. 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文件路径、语言风格、不要乱写等等）</a:t>
            </a:r>
            <a:endParaRPr lang="en-US" alt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</p:txBody>
      </p:sp>
      <p:sp>
        <p:nvSpPr>
          <p:cNvPr id="4" name="node1"/>
          <p:cNvSpPr/>
          <p:nvPr/>
        </p:nvSpPr>
        <p:spPr>
          <a:xfrm>
            <a:off x="2764400" y="1959050"/>
            <a:ext cx="2054400" cy="1600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1D2733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02 · 生成</a:t>
            </a:r>
          </a:p>
          <a:p>
            <a:pPr algn="l">
              <a:spcBef>
                <a:spcPts val="220"/>
              </a:spcBef>
            </a:pPr>
            <a:r>
              <a:rPr lang="en-US" altLang="zh-CN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Reading skill</a:t>
            </a:r>
            <a:r>
              <a:rPr lang="zh-CN" altLang="en-US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（</a:t>
            </a:r>
            <a:r>
              <a:rPr lang="en-US" altLang="zh-CN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7</a:t>
            </a:r>
            <a:r>
              <a:rPr lang="zh-CN" altLang="en-US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个）</a:t>
            </a:r>
            <a:endParaRPr lang="zh-CN" sz="1300" b="1" dirty="0">
              <a:solidFill>
                <a:srgbClr val="1D2733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280"/>
              </a:spcBef>
            </a:pPr>
            <a:endParaRPr lang="en-US" alt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按 reading SKILL 执行</a:t>
            </a: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工具：天眼查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MCP</a:t>
            </a: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 · OCR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视觉模型</a:t>
            </a: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 · 联网搜索</a:t>
            </a: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产出结构化 JSON</a:t>
            </a:r>
          </a:p>
        </p:txBody>
      </p:sp>
      <p:sp>
        <p:nvSpPr>
          <p:cNvPr id="5" name="node2"/>
          <p:cNvSpPr/>
          <p:nvPr/>
        </p:nvSpPr>
        <p:spPr>
          <a:xfrm>
            <a:off x="5068800" y="1959050"/>
            <a:ext cx="2054400" cy="1600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8A95A2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03 · 核对</a:t>
            </a:r>
          </a:p>
          <a:p>
            <a:pPr algn="l">
              <a:spcBef>
                <a:spcPts val="220"/>
              </a:spcBef>
            </a:pPr>
            <a:r>
              <a:rPr lang="zh-CN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编辑区（用户</a:t>
            </a:r>
            <a:r>
              <a:rPr lang="zh-CN" altLang="en-US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交互</a:t>
            </a:r>
            <a:r>
              <a:rPr lang="zh-CN" sz="1300" b="1" dirty="0">
                <a:solidFill>
                  <a:srgbClr val="1D2733"/>
                </a:solidFill>
                <a:latin typeface="Microsoft YaHei"/>
                <a:ea typeface="Microsoft YaHei"/>
              </a:rPr>
              <a:t>）</a:t>
            </a:r>
            <a:endParaRPr 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endParaRPr lang="en-US" alt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JSON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转化为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HTML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输出到编辑区</a:t>
            </a:r>
            <a:endParaRPr lang="en-US" alt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脚注、画图和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助手辅助写作</a:t>
            </a:r>
            <a:endParaRPr lang="en-US" alt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保存回 JSON</a:t>
            </a:r>
          </a:p>
        </p:txBody>
      </p:sp>
      <p:sp>
        <p:nvSpPr>
          <p:cNvPr id="6" name="node3"/>
          <p:cNvSpPr/>
          <p:nvPr/>
        </p:nvSpPr>
        <p:spPr>
          <a:xfrm>
            <a:off x="7373200" y="1959050"/>
            <a:ext cx="2054400" cy="1600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A96B1E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04 · 写入</a:t>
            </a:r>
          </a:p>
          <a:p>
            <a:pPr algn="l">
              <a:spcBef>
                <a:spcPts val="220"/>
              </a:spcBef>
            </a:pPr>
            <a:r>
              <a:rPr lang="en-US" altLang="zh-CN" sz="1300" b="1" dirty="0">
                <a:solidFill>
                  <a:srgbClr val="A96B1E"/>
                </a:solidFill>
                <a:latin typeface="Microsoft YaHei"/>
                <a:ea typeface="Microsoft YaHei"/>
              </a:rPr>
              <a:t>Writing skill</a:t>
            </a:r>
            <a:endParaRPr lang="zh-CN" sz="1300" b="1" dirty="0">
              <a:solidFill>
                <a:srgbClr val="A96B1E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280"/>
              </a:spcBef>
            </a:pPr>
            <a:endParaRPr lang="en-US" alt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只负责怎么写，不碰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JSON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中的内容</a:t>
            </a:r>
            <a:endParaRPr lang="en-US" alt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>
              <a:spcBef>
                <a:spcPts val="28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将写作要求生成</a:t>
            </a:r>
            <a:r>
              <a:rPr lang="zh-CN" altLang="zh-CN" sz="1000" dirty="0">
                <a:solidFill>
                  <a:srgbClr val="5A6675"/>
                </a:solidFill>
              </a:rPr>
              <a:t>web_render.py</a:t>
            </a:r>
            <a:r>
              <a:rPr lang="zh-CN" altLang="en-US" sz="1000" dirty="0">
                <a:solidFill>
                  <a:srgbClr val="5A6675"/>
                </a:solidFill>
              </a:rPr>
              <a:t>，由</a:t>
            </a:r>
            <a:r>
              <a:rPr lang="en-US" altLang="zh-CN" sz="1000" dirty="0">
                <a:solidFill>
                  <a:srgbClr val="5A6675"/>
                </a:solidFill>
              </a:rPr>
              <a:t>Python</a:t>
            </a:r>
            <a:r>
              <a:rPr lang="zh-CN" altLang="en-US" sz="1000" dirty="0">
                <a:solidFill>
                  <a:srgbClr val="5A6675"/>
                </a:solidFill>
              </a:rPr>
              <a:t>执行写入</a:t>
            </a:r>
            <a:endParaRPr 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</p:txBody>
      </p:sp>
      <p:sp>
        <p:nvSpPr>
          <p:cNvPr id="7" name="node4"/>
          <p:cNvSpPr/>
          <p:nvPr/>
        </p:nvSpPr>
        <p:spPr>
          <a:xfrm>
            <a:off x="9677600" y="1959050"/>
            <a:ext cx="2054400" cy="1600000"/>
          </a:xfrm>
          <a:prstGeom prst="roundRect">
            <a:avLst>
              <a:gd name="adj" fmla="val 4500"/>
            </a:avLst>
          </a:prstGeom>
          <a:solidFill>
            <a:srgbClr val="1D2733"/>
          </a:solidFill>
          <a:ln>
            <a:noFill/>
          </a:ln>
        </p:spPr>
        <p:txBody>
          <a:bodyPr wrap="square" lIns="82000" tIns="55000" rIns="82000" bIns="45000" anchor="ctr">
            <a:normAutofit/>
          </a:bodyPr>
          <a:lstStyle/>
          <a:p>
            <a:pPr algn="ctr"/>
            <a:r>
              <a:rPr lang="zh-CN" sz="900">
                <a:solidFill>
                  <a:srgbClr val="9AA6B2"/>
                </a:solidFill>
                <a:latin typeface="Microsoft YaHei"/>
                <a:ea typeface="Microsoft YaHei"/>
              </a:rPr>
              <a:t>OUTPUT</a:t>
            </a:r>
          </a:p>
          <a:p>
            <a:pPr algn="ctr">
              <a:spcBef>
                <a:spcPts val="220"/>
              </a:spcBef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Word 成稿</a:t>
            </a:r>
          </a:p>
          <a:p>
            <a:pPr algn="ctr">
              <a:spcBef>
                <a:spcPts val="200"/>
              </a:spcBef>
            </a:pPr>
            <a:r>
              <a:rPr lang="zh-CN" sz="950">
                <a:solidFill>
                  <a:srgbClr val="C7D0DA"/>
                </a:solidFill>
                <a:latin typeface="Microsoft YaHei"/>
                <a:ea typeface="Microsoft YaHei"/>
              </a:rPr>
              <a:t>发改委申报材料</a:t>
            </a:r>
          </a:p>
        </p:txBody>
      </p:sp>
      <p:sp>
        <p:nvSpPr>
          <p:cNvPr id="8" name="arrow0"/>
          <p:cNvSpPr/>
          <p:nvPr/>
        </p:nvSpPr>
        <p:spPr>
          <a:xfrm>
            <a:off x="2514400" y="1959050"/>
            <a:ext cx="250000" cy="1600000"/>
          </a:xfrm>
          <a:prstGeom prst="roundRect">
            <a:avLst>
              <a:gd name="adj" fmla="val 4500"/>
            </a:avLst>
          </a:prstGeom>
          <a:noFill/>
          <a:ln>
            <a:noFill/>
          </a:ln>
        </p:spPr>
        <p:txBody>
          <a:bodyPr wrap="square" lIns="82000" tIns="55000" rIns="82000" bIns="45000" anchor="ctr">
            <a:normAutofit/>
          </a:bodyPr>
          <a:lstStyle/>
          <a:p>
            <a:pPr algn="ctr"/>
            <a:r>
              <a:rPr lang="zh-CN" sz="2000">
                <a:solidFill>
                  <a:srgbClr val="8A95A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9" name="arrow1"/>
          <p:cNvSpPr/>
          <p:nvPr/>
        </p:nvSpPr>
        <p:spPr>
          <a:xfrm>
            <a:off x="4818800" y="1959050"/>
            <a:ext cx="250000" cy="1600000"/>
          </a:xfrm>
          <a:prstGeom prst="roundRect">
            <a:avLst>
              <a:gd name="adj" fmla="val 4500"/>
            </a:avLst>
          </a:prstGeom>
          <a:noFill/>
          <a:ln>
            <a:noFill/>
          </a:ln>
        </p:spPr>
        <p:txBody>
          <a:bodyPr wrap="square" lIns="82000" tIns="55000" rIns="82000" bIns="45000" anchor="ctr">
            <a:normAutofit/>
          </a:bodyPr>
          <a:lstStyle/>
          <a:p>
            <a:pPr algn="ctr"/>
            <a:r>
              <a:rPr lang="zh-CN" sz="2000">
                <a:solidFill>
                  <a:srgbClr val="8A95A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0" name="arrow2"/>
          <p:cNvSpPr/>
          <p:nvPr/>
        </p:nvSpPr>
        <p:spPr>
          <a:xfrm>
            <a:off x="7123200" y="1959050"/>
            <a:ext cx="250000" cy="1600000"/>
          </a:xfrm>
          <a:prstGeom prst="roundRect">
            <a:avLst>
              <a:gd name="adj" fmla="val 4500"/>
            </a:avLst>
          </a:prstGeom>
          <a:noFill/>
          <a:ln>
            <a:noFill/>
          </a:ln>
        </p:spPr>
        <p:txBody>
          <a:bodyPr wrap="square" lIns="82000" tIns="55000" rIns="82000" bIns="45000" anchor="ctr">
            <a:normAutofit/>
          </a:bodyPr>
          <a:lstStyle/>
          <a:p>
            <a:pPr algn="ctr"/>
            <a:r>
              <a:rPr lang="zh-CN" sz="2000">
                <a:solidFill>
                  <a:srgbClr val="8A95A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1" name="arrow3"/>
          <p:cNvSpPr/>
          <p:nvPr/>
        </p:nvSpPr>
        <p:spPr>
          <a:xfrm>
            <a:off x="9427600" y="1959050"/>
            <a:ext cx="250000" cy="1600000"/>
          </a:xfrm>
          <a:prstGeom prst="roundRect">
            <a:avLst>
              <a:gd name="adj" fmla="val 4500"/>
            </a:avLst>
          </a:prstGeom>
          <a:noFill/>
          <a:ln>
            <a:noFill/>
          </a:ln>
        </p:spPr>
        <p:txBody>
          <a:bodyPr wrap="square" lIns="82000" tIns="55000" rIns="82000" bIns="45000" anchor="ctr">
            <a:normAutofit/>
          </a:bodyPr>
          <a:lstStyle/>
          <a:p>
            <a:pPr algn="ctr"/>
            <a:r>
              <a:rPr lang="zh-CN" sz="2000">
                <a:solidFill>
                  <a:srgbClr val="8A95A2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4B81C4-1E62-821B-7140-C2E562FA1F4F}"/>
              </a:ext>
            </a:extLst>
          </p:cNvPr>
          <p:cNvSpPr/>
          <p:nvPr/>
        </p:nvSpPr>
        <p:spPr>
          <a:xfrm>
            <a:off x="2635250" y="1535050"/>
            <a:ext cx="4603750" cy="248920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困境标题"/>
          <p:cNvSpPr/>
          <p:nvPr/>
        </p:nvSpPr>
        <p:spPr>
          <a:xfrm>
            <a:off x="457200" y="3810000"/>
            <a:ext cx="6350000" cy="558800"/>
          </a:xfrm>
          <a:prstGeom prst="roundRect">
            <a:avLst>
              <a:gd name="adj" fmla="val 4500"/>
            </a:avLst>
          </a:prstGeom>
          <a:noFill/>
          <a:ln>
            <a:noFill/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b="1" dirty="0">
                <a:solidFill>
                  <a:srgbClr val="8A95A2"/>
                </a:solidFill>
                <a:latin typeface="Microsoft YaHei"/>
                <a:ea typeface="Microsoft YaHei"/>
              </a:rPr>
              <a:t>现状 · 待解决</a:t>
            </a:r>
          </a:p>
          <a:p>
            <a:pPr algn="l">
              <a:spcBef>
                <a:spcPts val="120"/>
              </a:spcBef>
            </a:pPr>
            <a:r>
              <a:rPr lang="zh-CN" sz="1800" b="1" dirty="0">
                <a:solidFill>
                  <a:srgbClr val="17202B"/>
                </a:solidFill>
                <a:latin typeface="Microsoft YaHei"/>
                <a:ea typeface="Microsoft YaHei"/>
              </a:rPr>
              <a:t>目前困境</a:t>
            </a:r>
          </a:p>
        </p:txBody>
      </p:sp>
      <p:sp>
        <p:nvSpPr>
          <p:cNvPr id="21" name="困境卡片1"/>
          <p:cNvSpPr/>
          <p:nvPr/>
        </p:nvSpPr>
        <p:spPr>
          <a:xfrm>
            <a:off x="457200" y="4445000"/>
            <a:ext cx="3556000" cy="1905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B5514A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困境 01</a:t>
            </a:r>
          </a:p>
          <a:p>
            <a:pPr algn="l">
              <a:spcBef>
                <a:spcPts val="220"/>
              </a:spcBef>
            </a:pPr>
            <a:r>
              <a:rPr lang="en-US" altLang="zh-CN" sz="1400" b="1" dirty="0">
                <a:solidFill>
                  <a:srgbClr val="B5514A"/>
                </a:solidFill>
                <a:latin typeface="Microsoft YaHei"/>
                <a:ea typeface="Microsoft YaHei"/>
              </a:rPr>
              <a:t>OCR</a:t>
            </a:r>
            <a:r>
              <a:rPr lang="zh-CN" altLang="en-US" sz="1400" b="1" dirty="0">
                <a:solidFill>
                  <a:srgbClr val="B5514A"/>
                </a:solidFill>
                <a:latin typeface="Microsoft YaHei"/>
                <a:ea typeface="Microsoft YaHei"/>
              </a:rPr>
              <a:t>视觉模型</a:t>
            </a:r>
            <a:endParaRPr lang="zh-CN" sz="1400" b="1" dirty="0">
              <a:solidFill>
                <a:srgbClr val="B5514A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endParaRPr lang="en-US" alt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系统将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pdf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扫描件作为图片一张张传递给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Kimi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的视觉模型，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Token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消耗量大，且效率低；</a:t>
            </a:r>
            <a:endParaRPr lang="en-US" alt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marL="171450" indent="-171450" algn="l">
              <a:spcBef>
                <a:spcPts val="180"/>
              </a:spcBef>
              <a:buFont typeface="Arial" panose="020B0604020202020204" pitchFamily="34" charset="0"/>
              <a:buChar char="•"/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无法精确定位到财务报表的位置，因财务报表在各个审计报告中出现的位置不一样，定位的过程依然需要读取。</a:t>
            </a:r>
            <a:endParaRPr 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</p:txBody>
      </p:sp>
      <p:sp>
        <p:nvSpPr>
          <p:cNvPr id="22" name="困境卡片2"/>
          <p:cNvSpPr/>
          <p:nvPr/>
        </p:nvSpPr>
        <p:spPr>
          <a:xfrm>
            <a:off x="4318000" y="4445000"/>
            <a:ext cx="3556000" cy="1905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B5514A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困境 02</a:t>
            </a:r>
          </a:p>
          <a:p>
            <a:pPr algn="l">
              <a:spcBef>
                <a:spcPts val="220"/>
              </a:spcBef>
            </a:pPr>
            <a:r>
              <a:rPr lang="zh-CN" altLang="en-US" sz="1400" b="1" dirty="0">
                <a:solidFill>
                  <a:srgbClr val="B5514A"/>
                </a:solidFill>
                <a:latin typeface="Microsoft YaHei"/>
                <a:ea typeface="Microsoft YaHei"/>
              </a:rPr>
              <a:t>脚注与插入图片的问题</a:t>
            </a:r>
            <a:endParaRPr lang="zh-CN" sz="1400" b="1" dirty="0">
              <a:solidFill>
                <a:srgbClr val="B5514A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endParaRPr lang="en-US" alt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个性化内容，暂无法让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完成</a:t>
            </a:r>
            <a:endParaRPr 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</p:txBody>
      </p:sp>
      <p:sp>
        <p:nvSpPr>
          <p:cNvPr id="23" name="困境卡片3"/>
          <p:cNvSpPr/>
          <p:nvPr/>
        </p:nvSpPr>
        <p:spPr>
          <a:xfrm>
            <a:off x="8178800" y="4445000"/>
            <a:ext cx="3556000" cy="1905000"/>
          </a:xfrm>
          <a:prstGeom prst="roundRect">
            <a:avLst>
              <a:gd name="adj" fmla="val 4500"/>
            </a:avLst>
          </a:prstGeom>
          <a:solidFill>
            <a:srgbClr val="F1F3F6"/>
          </a:solidFill>
          <a:ln w="19050">
            <a:solidFill>
              <a:srgbClr val="B5514A"/>
            </a:solidFill>
          </a:ln>
        </p:spPr>
        <p:txBody>
          <a:bodyPr wrap="square" lIns="82000" tIns="55000" rIns="82000" bIns="45000" anchor="t">
            <a:normAutofit/>
          </a:bodyPr>
          <a:lstStyle/>
          <a:p>
            <a:pPr algn="l"/>
            <a:r>
              <a:rPr lang="zh-CN" sz="900" dirty="0">
                <a:solidFill>
                  <a:srgbClr val="8A95A2"/>
                </a:solidFill>
                <a:latin typeface="Microsoft YaHei"/>
                <a:ea typeface="Microsoft YaHei"/>
              </a:rPr>
              <a:t>困境 03</a:t>
            </a:r>
          </a:p>
          <a:p>
            <a:pPr algn="l">
              <a:spcBef>
                <a:spcPts val="220"/>
              </a:spcBef>
            </a:pPr>
            <a:r>
              <a:rPr lang="zh-CN" altLang="en-US" sz="1400" b="1" dirty="0">
                <a:solidFill>
                  <a:srgbClr val="B5514A"/>
                </a:solidFill>
                <a:latin typeface="Microsoft YaHei"/>
                <a:ea typeface="Microsoft YaHei"/>
              </a:rPr>
              <a:t>减少</a:t>
            </a:r>
            <a:r>
              <a:rPr lang="en-US" altLang="zh-CN" sz="1400" b="1" dirty="0">
                <a:solidFill>
                  <a:srgbClr val="B5514A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1400" b="1" dirty="0">
                <a:solidFill>
                  <a:srgbClr val="B5514A"/>
                </a:solidFill>
                <a:latin typeface="Microsoft YaHei"/>
                <a:ea typeface="Microsoft YaHei"/>
              </a:rPr>
              <a:t>联网搜索次数</a:t>
            </a:r>
            <a:endParaRPr lang="zh-CN" sz="1400" b="1" dirty="0">
              <a:solidFill>
                <a:srgbClr val="B5514A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endParaRPr lang="en-US" altLang="zh-CN" sz="950" dirty="0">
              <a:solidFill>
                <a:srgbClr val="5A6675"/>
              </a:solidFill>
              <a:latin typeface="Microsoft YaHei"/>
              <a:ea typeface="Microsoft YaHei"/>
            </a:endParaRPr>
          </a:p>
          <a:p>
            <a:pPr algn="l">
              <a:spcBef>
                <a:spcPts val="180"/>
              </a:spcBef>
            </a:pP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增加结构化的数据，减少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AI</a:t>
            </a:r>
            <a:r>
              <a:rPr lang="zh-CN" altLang="en-US" sz="1000" dirty="0">
                <a:solidFill>
                  <a:srgbClr val="5A6675"/>
                </a:solidFill>
                <a:latin typeface="Microsoft YaHei"/>
                <a:ea typeface="Microsoft YaHei"/>
              </a:rPr>
              <a:t>调用外部</a:t>
            </a:r>
            <a:r>
              <a:rPr lang="en-US" altLang="zh-CN" sz="1000" dirty="0">
                <a:solidFill>
                  <a:srgbClr val="5A6675"/>
                </a:solidFill>
                <a:latin typeface="Microsoft YaHei"/>
                <a:ea typeface="Microsoft YaHei"/>
              </a:rPr>
              <a:t>search</a:t>
            </a:r>
            <a:endParaRPr lang="zh-CN" sz="1000" dirty="0">
              <a:solidFill>
                <a:srgbClr val="5A6675"/>
              </a:solidFill>
              <a:latin typeface="Microsoft YaHei"/>
              <a:ea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888536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D2733"/>
      </a:dk2>
      <a:lt2>
        <a:srgbClr val="EEF1F5"/>
      </a:lt2>
      <a:accent1>
        <a:srgbClr val="245A8D"/>
      </a:accent1>
      <a:accent2>
        <a:srgbClr val="0F766E"/>
      </a:accent2>
      <a:accent3>
        <a:srgbClr val="A96B1E"/>
      </a:accent3>
      <a:accent4>
        <a:srgbClr val="5A6675"/>
      </a:accent4>
      <a:accent5>
        <a:srgbClr val="7BAEDC"/>
      </a:accent5>
      <a:accent6>
        <a:srgbClr val="54C4B0"/>
      </a:accent6>
      <a:hlink>
        <a:srgbClr val="245A8D"/>
      </a:hlink>
      <a:folHlink>
        <a:srgbClr val="A96B1E"/>
      </a:folHlink>
    </a:clrScheme>
    <a:fontScheme name="Offic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2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638A84-7597-4CB7-AF77-DE9FAD110ED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3b75c00-3fa4-4fe1-82c7-475f8f37dc0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宽屏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Si-yuan LIU</cp:lastModifiedBy>
  <cp:revision>1</cp:revision>
  <dcterms:modified xsi:type="dcterms:W3CDTF">2026-07-31T05:48:22Z</dcterms:modified>
</cp:coreProperties>
</file>